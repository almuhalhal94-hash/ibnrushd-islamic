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mp3" ContentType="audio/mpeg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" Target="slide3.xml"/><Relationship Id="rId8" Type="http://schemas.openxmlformats.org/officeDocument/2006/relationships/slide" Target="slide10.xml"/><Relationship Id="rId11" Type="http://schemas.openxmlformats.org/officeDocument/2006/relationships/slide" Target="slide15.xml"/><Relationship Id="rId14" Type="http://schemas.openxmlformats.org/officeDocument/2006/relationships/slide" Target="slide22.xml"/><Relationship Id="rId17" Type="http://schemas.openxmlformats.org/officeDocument/2006/relationships/slide" Target="slide29.xml"/><Relationship Id="rId20" Type="http://schemas.openxmlformats.org/officeDocument/2006/relationships/slide" Target="slide36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2-4.png"/><Relationship Id="rId6" Type="http://schemas.openxmlformats.org/officeDocument/2006/relationships/image" Target="../media/image-1-3.png"/><Relationship Id="rId7" Type="http://schemas.openxmlformats.org/officeDocument/2006/relationships/image" Target="../media/image-2-4.png"/><Relationship Id="rId9" Type="http://schemas.openxmlformats.org/officeDocument/2006/relationships/image" Target="../media/image-1-3.png"/><Relationship Id="rId10" Type="http://schemas.openxmlformats.org/officeDocument/2006/relationships/image" Target="../media/image-2-4.png"/><Relationship Id="rId12" Type="http://schemas.openxmlformats.org/officeDocument/2006/relationships/image" Target="../media/image-1-3.png"/><Relationship Id="rId13" Type="http://schemas.openxmlformats.org/officeDocument/2006/relationships/image" Target="../media/image-2-4.png"/><Relationship Id="rId15" Type="http://schemas.openxmlformats.org/officeDocument/2006/relationships/image" Target="../media/image-1-3.png"/><Relationship Id="rId16" Type="http://schemas.openxmlformats.org/officeDocument/2006/relationships/image" Target="../media/image-2-4.png"/><Relationship Id="rId18" Type="http://schemas.openxmlformats.org/officeDocument/2006/relationships/image" Target="../media/image-1-3.png"/><Relationship Id="rId19" Type="http://schemas.openxmlformats.org/officeDocument/2006/relationships/image" Target="../media/image-2-4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6-5.jpg"/><Relationship Id="rId7" Type="http://schemas.openxmlformats.org/officeDocument/2006/relationships/audio" Target="../media/media-6-6.mp3"/><Relationship Id="rId8" Type="http://schemas.microsoft.com/office/2007/relationships/media" Target="../media/media-6-6.mp3"/><Relationship Id="rId9" Type="http://schemas.openxmlformats.org/officeDocument/2006/relationships/image" Target="../media/image-6-8.png"/><Relationship Id="rId10" Type="http://schemas.openxmlformats.org/officeDocument/2006/relationships/audio" Target="../media/media-6-9.mp3"/><Relationship Id="rId11" Type="http://schemas.microsoft.com/office/2007/relationships/media" Target="../media/media-6-9.mp3"/><Relationship Id="rId12" Type="http://schemas.openxmlformats.org/officeDocument/2006/relationships/image" Target="../media/image-6-8.png"/><Relationship Id="rId13" Type="http://schemas.openxmlformats.org/officeDocument/2006/relationships/audio" Target="../media/media-6-12.mp3"/><Relationship Id="rId14" Type="http://schemas.microsoft.com/office/2007/relationships/media" Target="../media/media-6-12.mp3"/><Relationship Id="rId15" Type="http://schemas.openxmlformats.org/officeDocument/2006/relationships/image" Target="../media/image-6-8.png"/><Relationship Id="rId16" Type="http://schemas.openxmlformats.org/officeDocument/2006/relationships/audio" Target="../media/media-6-15.mp3"/><Relationship Id="rId17" Type="http://schemas.microsoft.com/office/2007/relationships/media" Target="../media/media-6-15.mp3"/><Relationship Id="rId18" Type="http://schemas.openxmlformats.org/officeDocument/2006/relationships/image" Target="../media/image-6-8.png"/><Relationship Id="rId19" Type="http://schemas.openxmlformats.org/officeDocument/2006/relationships/audio" Target="../media/media-6-18.mp3"/><Relationship Id="rId20" Type="http://schemas.microsoft.com/office/2007/relationships/media" Target="../media/media-6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7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8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9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image" Target="../media/image-1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3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4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8-5.jpg"/><Relationship Id="rId7" Type="http://schemas.openxmlformats.org/officeDocument/2006/relationships/audio" Target="../media/media-18-6.mp3"/><Relationship Id="rId8" Type="http://schemas.microsoft.com/office/2007/relationships/media" Target="../media/media-18-6.mp3"/><Relationship Id="rId9" Type="http://schemas.openxmlformats.org/officeDocument/2006/relationships/image" Target="../media/image-6-8.png"/><Relationship Id="rId10" Type="http://schemas.openxmlformats.org/officeDocument/2006/relationships/audio" Target="../media/media-18-9.mp3"/><Relationship Id="rId11" Type="http://schemas.microsoft.com/office/2007/relationships/media" Target="../media/media-18-9.mp3"/><Relationship Id="rId12" Type="http://schemas.openxmlformats.org/officeDocument/2006/relationships/image" Target="../media/image-6-8.png"/><Relationship Id="rId13" Type="http://schemas.openxmlformats.org/officeDocument/2006/relationships/audio" Target="../media/media-18-12.mp3"/><Relationship Id="rId14" Type="http://schemas.microsoft.com/office/2007/relationships/media" Target="../media/media-18-12.mp3"/><Relationship Id="rId15" Type="http://schemas.openxmlformats.org/officeDocument/2006/relationships/image" Target="../media/image-6-8.png"/><Relationship Id="rId16" Type="http://schemas.openxmlformats.org/officeDocument/2006/relationships/audio" Target="../media/media-18-15.mp3"/><Relationship Id="rId17" Type="http://schemas.microsoft.com/office/2007/relationships/media" Target="../media/media-18-15.mp3"/><Relationship Id="rId18" Type="http://schemas.openxmlformats.org/officeDocument/2006/relationships/image" Target="../media/image-6-8.png"/><Relationship Id="rId19" Type="http://schemas.openxmlformats.org/officeDocument/2006/relationships/audio" Target="../media/media-18-18.mp3"/><Relationship Id="rId20" Type="http://schemas.microsoft.com/office/2007/relationships/media" Target="../media/media-18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9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0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1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5-5.jpg"/><Relationship Id="rId7" Type="http://schemas.openxmlformats.org/officeDocument/2006/relationships/audio" Target="../media/media-25-6.mp3"/><Relationship Id="rId8" Type="http://schemas.microsoft.com/office/2007/relationships/media" Target="../media/media-25-6.mp3"/><Relationship Id="rId9" Type="http://schemas.openxmlformats.org/officeDocument/2006/relationships/image" Target="../media/image-6-8.png"/><Relationship Id="rId10" Type="http://schemas.openxmlformats.org/officeDocument/2006/relationships/audio" Target="../media/media-25-9.mp3"/><Relationship Id="rId11" Type="http://schemas.microsoft.com/office/2007/relationships/media" Target="../media/media-25-9.mp3"/><Relationship Id="rId12" Type="http://schemas.openxmlformats.org/officeDocument/2006/relationships/image" Target="../media/image-6-8.png"/><Relationship Id="rId13" Type="http://schemas.openxmlformats.org/officeDocument/2006/relationships/audio" Target="../media/media-25-12.mp3"/><Relationship Id="rId14" Type="http://schemas.microsoft.com/office/2007/relationships/media" Target="../media/media-25-12.mp3"/><Relationship Id="rId15" Type="http://schemas.openxmlformats.org/officeDocument/2006/relationships/image" Target="../media/image-6-8.png"/><Relationship Id="rId16" Type="http://schemas.openxmlformats.org/officeDocument/2006/relationships/audio" Target="../media/media-25-15.mp3"/><Relationship Id="rId17" Type="http://schemas.microsoft.com/office/2007/relationships/media" Target="../media/media-25-15.mp3"/><Relationship Id="rId18" Type="http://schemas.openxmlformats.org/officeDocument/2006/relationships/image" Target="../media/image-6-8.png"/><Relationship Id="rId19" Type="http://schemas.openxmlformats.org/officeDocument/2006/relationships/audio" Target="../media/media-25-18.mp3"/><Relationship Id="rId20" Type="http://schemas.microsoft.com/office/2007/relationships/media" Target="../media/media-25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6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7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8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2-5.jpg"/><Relationship Id="rId7" Type="http://schemas.openxmlformats.org/officeDocument/2006/relationships/audio" Target="../media/media-32-6.mp3"/><Relationship Id="rId8" Type="http://schemas.microsoft.com/office/2007/relationships/media" Target="../media/media-32-6.mp3"/><Relationship Id="rId9" Type="http://schemas.openxmlformats.org/officeDocument/2006/relationships/image" Target="../media/image-6-8.png"/><Relationship Id="rId10" Type="http://schemas.openxmlformats.org/officeDocument/2006/relationships/audio" Target="../media/media-32-9.mp3"/><Relationship Id="rId11" Type="http://schemas.microsoft.com/office/2007/relationships/media" Target="../media/media-32-9.mp3"/><Relationship Id="rId12" Type="http://schemas.openxmlformats.org/officeDocument/2006/relationships/image" Target="../media/image-6-8.png"/><Relationship Id="rId13" Type="http://schemas.openxmlformats.org/officeDocument/2006/relationships/audio" Target="../media/media-32-12.mp3"/><Relationship Id="rId14" Type="http://schemas.microsoft.com/office/2007/relationships/media" Target="../media/media-32-12.mp3"/><Relationship Id="rId15" Type="http://schemas.openxmlformats.org/officeDocument/2006/relationships/image" Target="../media/image-6-8.png"/><Relationship Id="rId16" Type="http://schemas.openxmlformats.org/officeDocument/2006/relationships/audio" Target="../media/media-32-15.mp3"/><Relationship Id="rId17" Type="http://schemas.microsoft.com/office/2007/relationships/media" Target="../media/media-32-15.mp3"/><Relationship Id="rId18" Type="http://schemas.openxmlformats.org/officeDocument/2006/relationships/image" Target="../media/image-6-8.png"/><Relationship Id="rId19" Type="http://schemas.openxmlformats.org/officeDocument/2006/relationships/audio" Target="../media/media-32-18.mp3"/><Relationship Id="rId20" Type="http://schemas.microsoft.com/office/2007/relationships/media" Target="../media/media-32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3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4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5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9-5.jpg"/><Relationship Id="rId7" Type="http://schemas.openxmlformats.org/officeDocument/2006/relationships/audio" Target="../media/media-39-6.mp3"/><Relationship Id="rId8" Type="http://schemas.microsoft.com/office/2007/relationships/media" Target="../media/media-39-6.mp3"/><Relationship Id="rId9" Type="http://schemas.openxmlformats.org/officeDocument/2006/relationships/image" Target="../media/image-6-8.png"/><Relationship Id="rId10" Type="http://schemas.openxmlformats.org/officeDocument/2006/relationships/audio" Target="../media/media-39-9.mp3"/><Relationship Id="rId11" Type="http://schemas.microsoft.com/office/2007/relationships/media" Target="../media/media-39-9.mp3"/><Relationship Id="rId12" Type="http://schemas.openxmlformats.org/officeDocument/2006/relationships/image" Target="../media/image-6-8.png"/><Relationship Id="rId13" Type="http://schemas.openxmlformats.org/officeDocument/2006/relationships/audio" Target="../media/media-39-12.mp3"/><Relationship Id="rId14" Type="http://schemas.microsoft.com/office/2007/relationships/media" Target="../media/media-39-12.mp3"/><Relationship Id="rId15" Type="http://schemas.openxmlformats.org/officeDocument/2006/relationships/image" Target="../media/image-6-8.png"/><Relationship Id="rId16" Type="http://schemas.openxmlformats.org/officeDocument/2006/relationships/audio" Target="../media/media-39-15.mp3"/><Relationship Id="rId17" Type="http://schemas.microsoft.com/office/2007/relationships/media" Target="../media/media-39-15.mp3"/><Relationship Id="rId18" Type="http://schemas.openxmlformats.org/officeDocument/2006/relationships/image" Target="../media/image-6-8.png"/><Relationship Id="rId19" Type="http://schemas.openxmlformats.org/officeDocument/2006/relationships/audio" Target="../media/media-39-18.mp3"/><Relationship Id="rId20" Type="http://schemas.microsoft.com/office/2007/relationships/media" Target="../media/media-39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40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41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42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688" y="1005840"/>
            <a:ext cx="1188720" cy="11887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504688" y="10058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40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2240280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القرآن الكريم</a:t>
            </a:r>
            <a:endParaRPr lang="en-US" sz="66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333756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4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الواقعة</a:t>
            </a:r>
            <a:endParaRPr lang="en-US" sz="44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16052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الصف السابع – الجزء الأول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3840480" y="4937760"/>
            <a:ext cx="4507992" cy="548640"/>
          </a:xfrm>
          <a:prstGeom prst="roundRect">
            <a:avLst>
              <a:gd name="adj" fmla="val 50000"/>
            </a:avLst>
          </a:prstGeom>
          <a:solidFill>
            <a:srgbClr val="C8A24A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B4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الدروس ١ – ٦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32004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فهرس الدروس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100584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الدرس للانتقال إليه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8130388" y="1691640"/>
            <a:ext cx="3429000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6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9268" y="2011680"/>
            <a:ext cx="777240" cy="7772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599268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8267548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الأول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8267548" y="22219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الواقعة (١)</a:t>
            </a:r>
            <a:endParaRPr lang="en-US" sz="2600" dirty="0"/>
          </a:p>
        </p:txBody>
      </p:sp>
      <p:sp>
        <p:nvSpPr>
          <p:cNvPr id="10" name="Text 6"/>
          <p:cNvSpPr txBox="1"/>
          <p:nvPr/>
        </p:nvSpPr>
        <p:spPr>
          <a:xfrm>
            <a:off x="8267548" y="2651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١–١٢</a:t>
            </a:r>
            <a:endParaRPr lang="en-US" sz="1400" dirty="0"/>
          </a:p>
        </p:txBody>
      </p:sp>
      <p:pic>
        <p:nvPicPr>
          <p:cNvPr id="11" name="Image 2" descr="a/clear.png">
            <a:hlinkClick r:id="rId5" tooltip="الدرس الأول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0388" y="1691640"/>
            <a:ext cx="3429000" cy="141732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381348" y="1691640"/>
            <a:ext cx="3429000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13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0228" y="2011680"/>
            <a:ext cx="777240" cy="77724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850228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5" name="Text 9"/>
          <p:cNvSpPr txBox="1"/>
          <p:nvPr/>
        </p:nvSpPr>
        <p:spPr>
          <a:xfrm>
            <a:off x="4518508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الثاني</a:t>
            </a:r>
            <a:endParaRPr lang="en-US" sz="1400" dirty="0"/>
          </a:p>
        </p:txBody>
      </p:sp>
      <p:sp>
        <p:nvSpPr>
          <p:cNvPr id="16" name="Text 10"/>
          <p:cNvSpPr txBox="1"/>
          <p:nvPr/>
        </p:nvSpPr>
        <p:spPr>
          <a:xfrm>
            <a:off x="4518508" y="22219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اللَّحنُ في القراءة</a:t>
            </a:r>
            <a:endParaRPr lang="en-US" sz="2600" dirty="0"/>
          </a:p>
        </p:txBody>
      </p:sp>
      <p:sp>
        <p:nvSpPr>
          <p:cNvPr id="17" name="Text 11"/>
          <p:cNvSpPr txBox="1"/>
          <p:nvPr/>
        </p:nvSpPr>
        <p:spPr>
          <a:xfrm>
            <a:off x="4518508" y="2651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حكم تجويدي</a:t>
            </a:r>
            <a:endParaRPr lang="en-US" sz="1400" dirty="0"/>
          </a:p>
        </p:txBody>
      </p:sp>
      <p:pic>
        <p:nvPicPr>
          <p:cNvPr id="18" name="Image 4" descr="a/clear.png">
            <a:hlinkClick r:id="rId8" tooltip="الدرس الثاني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1348" y="1691640"/>
            <a:ext cx="3429000" cy="141732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632308" y="1691640"/>
            <a:ext cx="3429000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20" name="Image 5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01188" y="2011680"/>
            <a:ext cx="777240" cy="77724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3101188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2" name="Text 14"/>
          <p:cNvSpPr txBox="1"/>
          <p:nvPr/>
        </p:nvSpPr>
        <p:spPr>
          <a:xfrm>
            <a:off x="769468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الثالث</a:t>
            </a:r>
            <a:endParaRPr lang="en-US" sz="1400" dirty="0"/>
          </a:p>
        </p:txBody>
      </p:sp>
      <p:sp>
        <p:nvSpPr>
          <p:cNvPr id="23" name="Text 15"/>
          <p:cNvSpPr txBox="1"/>
          <p:nvPr/>
        </p:nvSpPr>
        <p:spPr>
          <a:xfrm>
            <a:off x="769468" y="22219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الواقعة (٢)</a:t>
            </a:r>
            <a:endParaRPr lang="en-US" sz="2600" dirty="0"/>
          </a:p>
        </p:txBody>
      </p:sp>
      <p:sp>
        <p:nvSpPr>
          <p:cNvPr id="24" name="Text 16"/>
          <p:cNvSpPr txBox="1"/>
          <p:nvPr/>
        </p:nvSpPr>
        <p:spPr>
          <a:xfrm>
            <a:off x="769468" y="2651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١٣–٢٦</a:t>
            </a:r>
            <a:endParaRPr lang="en-US" sz="1400" dirty="0"/>
          </a:p>
        </p:txBody>
      </p:sp>
      <p:pic>
        <p:nvPicPr>
          <p:cNvPr id="25" name="Image 6" descr="a/clear.png">
            <a:hlinkClick r:id="rId11" tooltip="الدرس الثالث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308" y="1691640"/>
            <a:ext cx="3429000" cy="1417320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8130388" y="3429000"/>
            <a:ext cx="3429000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27" name="Image 7" descr="a/star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99268" y="3749040"/>
            <a:ext cx="777240" cy="777240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10599268" y="3749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200" dirty="0"/>
          </a:p>
        </p:txBody>
      </p:sp>
      <p:sp>
        <p:nvSpPr>
          <p:cNvPr id="29" name="Text 19"/>
          <p:cNvSpPr txBox="1"/>
          <p:nvPr/>
        </p:nvSpPr>
        <p:spPr>
          <a:xfrm>
            <a:off x="8267548" y="3611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الرابع</a:t>
            </a:r>
            <a:endParaRPr lang="en-US" sz="1400" dirty="0"/>
          </a:p>
        </p:txBody>
      </p:sp>
      <p:sp>
        <p:nvSpPr>
          <p:cNvPr id="30" name="Text 20"/>
          <p:cNvSpPr txBox="1"/>
          <p:nvPr/>
        </p:nvSpPr>
        <p:spPr>
          <a:xfrm>
            <a:off x="8267548" y="39593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الواقعة (٣)</a:t>
            </a:r>
            <a:endParaRPr lang="en-US" sz="2600" dirty="0"/>
          </a:p>
        </p:txBody>
      </p:sp>
      <p:sp>
        <p:nvSpPr>
          <p:cNvPr id="31" name="Text 21"/>
          <p:cNvSpPr txBox="1"/>
          <p:nvPr/>
        </p:nvSpPr>
        <p:spPr>
          <a:xfrm>
            <a:off x="8267548" y="4389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٢٧–٤٠</a:t>
            </a:r>
            <a:endParaRPr lang="en-US" sz="1400" dirty="0"/>
          </a:p>
        </p:txBody>
      </p:sp>
      <p:pic>
        <p:nvPicPr>
          <p:cNvPr id="32" name="Image 8" descr="a/clear.png">
            <a:hlinkClick r:id="rId14" tooltip="الدرس الرابع" action="ppaction://hlinksldjump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30388" y="3429000"/>
            <a:ext cx="3429000" cy="1417320"/>
          </a:xfrm>
          <a:prstGeom prst="rect">
            <a:avLst/>
          </a:prstGeom>
        </p:spPr>
      </p:pic>
      <p:sp>
        <p:nvSpPr>
          <p:cNvPr id="33" name="Shape 22"/>
          <p:cNvSpPr/>
          <p:nvPr/>
        </p:nvSpPr>
        <p:spPr>
          <a:xfrm>
            <a:off x="4381348" y="3429000"/>
            <a:ext cx="3429000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34" name="Image 9" descr="a/star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50228" y="3749040"/>
            <a:ext cx="777240" cy="777240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6850228" y="3749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en-US" sz="2200" dirty="0"/>
          </a:p>
        </p:txBody>
      </p:sp>
      <p:sp>
        <p:nvSpPr>
          <p:cNvPr id="36" name="Text 24"/>
          <p:cNvSpPr txBox="1"/>
          <p:nvPr/>
        </p:nvSpPr>
        <p:spPr>
          <a:xfrm>
            <a:off x="4518508" y="3611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الخامس</a:t>
            </a:r>
            <a:endParaRPr lang="en-US" sz="1400" dirty="0"/>
          </a:p>
        </p:txBody>
      </p:sp>
      <p:sp>
        <p:nvSpPr>
          <p:cNvPr id="37" name="Text 25"/>
          <p:cNvSpPr txBox="1"/>
          <p:nvPr/>
        </p:nvSpPr>
        <p:spPr>
          <a:xfrm>
            <a:off x="4518508" y="39593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الواقعة (٤)</a:t>
            </a:r>
            <a:endParaRPr lang="en-US" sz="2600" dirty="0"/>
          </a:p>
        </p:txBody>
      </p:sp>
      <p:sp>
        <p:nvSpPr>
          <p:cNvPr id="38" name="Text 26"/>
          <p:cNvSpPr txBox="1"/>
          <p:nvPr/>
        </p:nvSpPr>
        <p:spPr>
          <a:xfrm>
            <a:off x="4518508" y="4389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٤١–٤٨</a:t>
            </a:r>
            <a:endParaRPr lang="en-US" sz="1400" dirty="0"/>
          </a:p>
        </p:txBody>
      </p:sp>
      <p:pic>
        <p:nvPicPr>
          <p:cNvPr id="39" name="Image 10" descr="a/clear.png">
            <a:hlinkClick r:id="rId17" tooltip="الدرس الخامس" action="ppaction://hlinksldjump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81348" y="3429000"/>
            <a:ext cx="3429000" cy="1417320"/>
          </a:xfrm>
          <a:prstGeom prst="rect">
            <a:avLst/>
          </a:prstGeom>
        </p:spPr>
      </p:pic>
      <p:sp>
        <p:nvSpPr>
          <p:cNvPr id="40" name="Shape 27"/>
          <p:cNvSpPr/>
          <p:nvPr/>
        </p:nvSpPr>
        <p:spPr>
          <a:xfrm>
            <a:off x="632308" y="3429000"/>
            <a:ext cx="3429000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41" name="Image 11" descr="a/star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101188" y="3749040"/>
            <a:ext cx="777240" cy="777240"/>
          </a:xfrm>
          <a:prstGeom prst="rect">
            <a:avLst/>
          </a:prstGeom>
        </p:spPr>
      </p:pic>
      <p:sp>
        <p:nvSpPr>
          <p:cNvPr id="42" name="Text 28"/>
          <p:cNvSpPr txBox="1"/>
          <p:nvPr/>
        </p:nvSpPr>
        <p:spPr>
          <a:xfrm>
            <a:off x="3101188" y="3749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en-US" sz="2200" dirty="0"/>
          </a:p>
        </p:txBody>
      </p:sp>
      <p:sp>
        <p:nvSpPr>
          <p:cNvPr id="43" name="Text 29"/>
          <p:cNvSpPr txBox="1"/>
          <p:nvPr/>
        </p:nvSpPr>
        <p:spPr>
          <a:xfrm>
            <a:off x="769468" y="3611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السادس</a:t>
            </a:r>
            <a:endParaRPr lang="en-US" sz="1400" dirty="0"/>
          </a:p>
        </p:txBody>
      </p:sp>
      <p:sp>
        <p:nvSpPr>
          <p:cNvPr id="44" name="Text 30"/>
          <p:cNvSpPr txBox="1"/>
          <p:nvPr/>
        </p:nvSpPr>
        <p:spPr>
          <a:xfrm>
            <a:off x="769468" y="39593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الواقعة (٥)</a:t>
            </a:r>
            <a:endParaRPr lang="en-US" sz="2600" dirty="0"/>
          </a:p>
        </p:txBody>
      </p:sp>
      <p:sp>
        <p:nvSpPr>
          <p:cNvPr id="45" name="Text 31"/>
          <p:cNvSpPr txBox="1"/>
          <p:nvPr/>
        </p:nvSpPr>
        <p:spPr>
          <a:xfrm>
            <a:off x="769468" y="4389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٤٩–٥٦</a:t>
            </a:r>
            <a:endParaRPr lang="en-US" sz="1400" dirty="0"/>
          </a:p>
        </p:txBody>
      </p:sp>
      <p:pic>
        <p:nvPicPr>
          <p:cNvPr id="46" name="Image 12" descr="a/clear.png">
            <a:hlinkClick r:id="rId20" tooltip="الدرس السادس" action="ppaction://hlinksldjump"/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2308" y="3429000"/>
            <a:ext cx="3429000" cy="14173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الأول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الواقعة (١)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١–١٢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الأول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«خَيْرُكُمْ مَنْ تَعَلَّمَ الْقُرْآنَ وَعَلَّمَهُ»</a:t>
            </a:r>
            <a:endParaRPr lang="en-US" sz="44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(رواه البخاري)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الأول  •  سورة الواقعة (١)  •  الآيات ١–١٢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66547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6654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3000" dirty="0"/>
          </a:p>
        </p:txBody>
      </p:sp>
      <p:sp>
        <p:nvSpPr>
          <p:cNvPr id="14" name="Shape 8"/>
          <p:cNvSpPr/>
          <p:nvPr/>
        </p:nvSpPr>
        <p:spPr>
          <a:xfrm>
            <a:off x="914400" y="379476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94563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9456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79476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شرح المقطع القرآني شرحًا شفويًّا مجملًا مُيسّرًا.</a:t>
            </a:r>
            <a:endParaRPr lang="en-US" sz="3000" dirty="0"/>
          </a:p>
        </p:txBody>
      </p:sp>
      <p:sp>
        <p:nvSpPr>
          <p:cNvPr id="18" name="Shape 11"/>
          <p:cNvSpPr/>
          <p:nvPr/>
        </p:nvSpPr>
        <p:spPr>
          <a:xfrm>
            <a:off x="914400" y="507492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522579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522579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507492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تطبيق أحكامِ التَّجويد تطبيقًا سليمًا.</a:t>
            </a:r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الواقعة (١)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الأول  •  الآيات ١–١٢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01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9464" y="1188720"/>
            <a:ext cx="6165032" cy="553212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أتلو مع بيانِ أحكامِ التَّجويد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الأول  •  الآيات ١–١٢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731520" y="1737360"/>
            <a:ext cx="10725912" cy="420624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3" descr="c/L01_tajweed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3214834"/>
            <a:ext cx="9994392" cy="12512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أتعرَّفُ معانيَ المُفْرَدات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الأول  •  الآيات ١–١٢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01_vocab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1146" y="1417320"/>
            <a:ext cx="9486659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أقرأُ وأَفْهَم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الأول  •  الآيات ١–١٢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822960" y="1371600"/>
            <a:ext cx="10543032" cy="5212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3" descr="c/L01_read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2473441"/>
            <a:ext cx="9994392" cy="300839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الثاني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اللَّحنُ في القراءة</a:t>
            </a:r>
            <a:endParaRPr lang="en-US" sz="40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الثاني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«اقْرَءُوا الْقُرْآنَ؛ فَإِنَّهُ يَأْتِي يَوْمَ الْقِيَامَةِ شَفِيعًا لِأَصْحَابِهِ»</a:t>
            </a:r>
            <a:endParaRPr lang="en-US" sz="38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(رواه مسلم)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الثاني  •  اللَّحنُ في قراءة القرآن الكريم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57403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5740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تحديد مفهوم اللحن في قراءة القرآن الكريم.</a:t>
            </a:r>
            <a:endParaRPr lang="en-US" sz="2600" dirty="0"/>
          </a:p>
        </p:txBody>
      </p:sp>
      <p:sp>
        <p:nvSpPr>
          <p:cNvPr id="14" name="Shape 8"/>
          <p:cNvSpPr/>
          <p:nvPr/>
        </p:nvSpPr>
        <p:spPr>
          <a:xfrm>
            <a:off x="914400" y="352044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57987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5798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52044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التفريق بين اللحن الجليّ واللحن الخفيّ.</a:t>
            </a:r>
            <a:endParaRPr lang="en-US" sz="2600" dirty="0"/>
          </a:p>
        </p:txBody>
      </p:sp>
      <p:sp>
        <p:nvSpPr>
          <p:cNvPr id="18" name="Shape 11"/>
          <p:cNvSpPr/>
          <p:nvPr/>
        </p:nvSpPr>
        <p:spPr>
          <a:xfrm>
            <a:off x="914400" y="452628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458571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458571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452628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بيان حكم كلٍّ من اللحنين.</a:t>
            </a:r>
            <a:endParaRPr lang="en-US" sz="2600" dirty="0"/>
          </a:p>
        </p:txBody>
      </p:sp>
      <p:sp>
        <p:nvSpPr>
          <p:cNvPr id="22" name="Shape 14"/>
          <p:cNvSpPr/>
          <p:nvPr/>
        </p:nvSpPr>
        <p:spPr>
          <a:xfrm>
            <a:off x="914400" y="553212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6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4160" y="5591556"/>
            <a:ext cx="749808" cy="74980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424160" y="559155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200" dirty="0"/>
          </a:p>
        </p:txBody>
      </p:sp>
      <p:sp>
        <p:nvSpPr>
          <p:cNvPr id="25" name="Text 16"/>
          <p:cNvSpPr txBox="1"/>
          <p:nvPr/>
        </p:nvSpPr>
        <p:spPr>
          <a:xfrm>
            <a:off x="1188720" y="553212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اقتراح وسائل السلامة من اللحن في التلاوة.</a:t>
            </a:r>
            <a:endParaRPr lang="en-US" sz="2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اللَّحنُ في قراءة القرآن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تعريف اللحن وأقسامه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02_a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2097361"/>
            <a:ext cx="11091672" cy="376055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اللَّحنُ في قراءة القرآن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حكم اللحن في تلاوة القرآن الكريم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02_a2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88281" y="1325880"/>
            <a:ext cx="821239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الثالث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الواقعة (٢)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١٣–٢٦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الثالث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«مَنْ قَرَأَ حَرْفًا مِنْ كِتَابِ اللَّهِ فَلَهُ بِهِ حَسَنَةٌ، وَالْحَسَنَةُ بِعَشْرِ أَمْثَالِهَا، لَا أَقُولُ الم حَرْفٌ، وَلَكِنْ أَلِفٌ حَرْفٌ، وَلَامٌ حَرْفٌ، وَمِيمٌ حَرْفٌ»</a:t>
            </a:r>
            <a:endParaRPr lang="en-US" sz="30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(رواه الترمذي)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الثالث  •  سورة الواقعة (٢)  •  الآيات ١٣–٢٦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66547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6654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3000" dirty="0"/>
          </a:p>
        </p:txBody>
      </p:sp>
      <p:sp>
        <p:nvSpPr>
          <p:cNvPr id="14" name="Shape 8"/>
          <p:cNvSpPr/>
          <p:nvPr/>
        </p:nvSpPr>
        <p:spPr>
          <a:xfrm>
            <a:off x="914400" y="379476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94563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9456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79476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شرح المقطع القرآني شرحًا شفويًّا مجملًا مُيسّرًا.</a:t>
            </a:r>
            <a:endParaRPr lang="en-US" sz="3000" dirty="0"/>
          </a:p>
        </p:txBody>
      </p:sp>
      <p:sp>
        <p:nvSpPr>
          <p:cNvPr id="18" name="Shape 11"/>
          <p:cNvSpPr/>
          <p:nvPr/>
        </p:nvSpPr>
        <p:spPr>
          <a:xfrm>
            <a:off x="914400" y="507492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522579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522579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507492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تطبيق أحكامِ التَّجويد تطبيقًا سليمًا.</a:t>
            </a:r>
            <a:endParaRPr lang="en-US" sz="3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الواقعة (٢)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الثالث  •  الآيات ١٣–٢٦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03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8163" y="1188720"/>
            <a:ext cx="6267635" cy="553212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أتلو مع بيانِ أحكامِ التَّجويد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الثالث  •  الآيات ١٣–٢٦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731520" y="1737360"/>
            <a:ext cx="10725912" cy="420624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3" descr="c/L03_tajweed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2794555"/>
            <a:ext cx="9994392" cy="209184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أتعرَّفُ معانيَ المُفْرَدات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الثالث  •  الآيات ١٣–٢٦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03_vocab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0160" y="1677857"/>
            <a:ext cx="9628632" cy="459956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أقرأُ وأَفْهَم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الثالث  •  الآيات ١٣–٢٦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822960" y="1371600"/>
            <a:ext cx="10543032" cy="5212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3" descr="c/L03_read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2473441"/>
            <a:ext cx="9994392" cy="300839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الرابع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الواقعة (٣)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٢٧–٤٠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الرابع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«الْمَاهِرُ بِالْقُرْآنِ مَعَ السَّفَرَةِ الْكِرَامِ الْبَرَرَةِ، وَالَّذِي يَقْرَأُ الْقُرْآنَ وَيَتَتَعْتَعُ فِيهِ وَهُوَ عَلَيْهِ شَاقٌّ لَهُ أَجْرَانِ»</a:t>
            </a:r>
            <a:endParaRPr lang="en-US" sz="34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(متفق عليه، واللفظ لمسلم)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الرابع  •  سورة الواقعة (٣)  •  الآيات ٢٧–٤٠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66547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6654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3000" dirty="0"/>
          </a:p>
        </p:txBody>
      </p:sp>
      <p:sp>
        <p:nvSpPr>
          <p:cNvPr id="14" name="Shape 8"/>
          <p:cNvSpPr/>
          <p:nvPr/>
        </p:nvSpPr>
        <p:spPr>
          <a:xfrm>
            <a:off x="914400" y="379476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94563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9456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79476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شرح المقطع القرآني شرحًا شفويًّا مجملًا مُيسّرًا.</a:t>
            </a:r>
            <a:endParaRPr lang="en-US" sz="3000" dirty="0"/>
          </a:p>
        </p:txBody>
      </p:sp>
      <p:sp>
        <p:nvSpPr>
          <p:cNvPr id="18" name="Shape 11"/>
          <p:cNvSpPr/>
          <p:nvPr/>
        </p:nvSpPr>
        <p:spPr>
          <a:xfrm>
            <a:off x="914400" y="507492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522579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522579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507492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تطبيق أحكامِ التَّجويد تطبيقًا سليمًا.</a:t>
            </a:r>
            <a:endParaRPr lang="en-US" sz="3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الواقعة (٣)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الرابع  •  الآيات ٢٧–٤٠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04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731" y="1188720"/>
            <a:ext cx="6954499" cy="553212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أتلو مع بيانِ أحكامِ التَّجويد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الرابع  •  الآيات ٢٧–٤٠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731520" y="1737360"/>
            <a:ext cx="10725912" cy="420624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3" descr="c/L04_tajweed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3280154"/>
            <a:ext cx="9994392" cy="112065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أتعرَّفُ معانيَ المُفْرَدات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الرابع  •  الآيات ٢٧–٤٠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04_vocab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0160" y="2112141"/>
            <a:ext cx="9628632" cy="373099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أقرأُ وأَفْهَم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الرابع  •  الآيات ٢٧–٤٠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822960" y="1371600"/>
            <a:ext cx="10543032" cy="5212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3" descr="c/L04_read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2585869"/>
            <a:ext cx="9994392" cy="2783543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الخامس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الواقعة (٤)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٤١–٤٨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الخامس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«يُقَالُ لِصَاحِبِ الْقُرْآنِ: اقْرَأْ وَارْتَقِ وَرَتِّلْ كَمَا كُنْتَ تُرَتِّلُ فِي الدُّنْيَا؛ فَإِنَّ مَنْزِلَكَ عِنْدَ آخِرِ آيَةٍ تَقْرَؤُهَا»</a:t>
            </a:r>
            <a:endParaRPr lang="en-US" sz="34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(رواه أبو داود والترمذي)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الخامس  •  سورة الواقعة (٤)  •  الآيات ٤١–٤٨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66547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6654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3000" dirty="0"/>
          </a:p>
        </p:txBody>
      </p:sp>
      <p:sp>
        <p:nvSpPr>
          <p:cNvPr id="14" name="Shape 8"/>
          <p:cNvSpPr/>
          <p:nvPr/>
        </p:nvSpPr>
        <p:spPr>
          <a:xfrm>
            <a:off x="914400" y="379476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94563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9456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79476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شرح المقطع القرآني شرحًا شفويًّا مجملًا مُيسّرًا.</a:t>
            </a:r>
            <a:endParaRPr lang="en-US" sz="3000" dirty="0"/>
          </a:p>
        </p:txBody>
      </p:sp>
      <p:sp>
        <p:nvSpPr>
          <p:cNvPr id="18" name="Shape 11"/>
          <p:cNvSpPr/>
          <p:nvPr/>
        </p:nvSpPr>
        <p:spPr>
          <a:xfrm>
            <a:off x="914400" y="507492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522579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522579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507492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تطبيق أحكامِ التَّجويد تطبيقًا سليمًا.</a:t>
            </a:r>
            <a:endParaRPr lang="en-US" sz="3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الواقعة (٤)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الخامس  •  الآيات ٤١–٤٨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05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1451159"/>
            <a:ext cx="8183880" cy="5007242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أتلو مع بيانِ أحكامِ التَّجويد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الخامس  •  الآيات ٤١–٤٨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731520" y="1737360"/>
            <a:ext cx="10725912" cy="420624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3" descr="c/L05_tajweed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3180249"/>
            <a:ext cx="9994392" cy="1320462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أتعرَّفُ معانيَ المُفْرَدات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الخامس  •  الآيات ٤١–٤٨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05_vocab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0160" y="1658477"/>
            <a:ext cx="9628632" cy="4638326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أقرأُ وأَفْهَم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الخامس  •  الآيات ٤١–٤٨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822960" y="1371600"/>
            <a:ext cx="10543032" cy="5212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3" descr="c/L05_read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2169648"/>
            <a:ext cx="9994392" cy="3615983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السادس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الواقعة (٥)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٤٩–٥٦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السادس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«إِنَّ اللَّهَ يَرْفَعُ بِهَذَا الْكِتَابِ أَقْوَامًا، وَيَضَعُ بِهِ آخَرِينَ»</a:t>
            </a:r>
            <a:endParaRPr lang="en-US" sz="38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(رواه مسلم)</a:t>
            </a:r>
            <a:endParaRPr lang="en-US" sz="1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السادس  •  سورة الواقعة (٥)  •  الآيات ٤٩–٥٦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66547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6654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3000" dirty="0"/>
          </a:p>
        </p:txBody>
      </p:sp>
      <p:sp>
        <p:nvSpPr>
          <p:cNvPr id="14" name="Shape 8"/>
          <p:cNvSpPr/>
          <p:nvPr/>
        </p:nvSpPr>
        <p:spPr>
          <a:xfrm>
            <a:off x="914400" y="379476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94563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9456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79476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شرح المقطع القرآني شرحًا شفويًّا مجملًا مُيسّرًا.</a:t>
            </a:r>
            <a:endParaRPr lang="en-US" sz="3000" dirty="0"/>
          </a:p>
        </p:txBody>
      </p:sp>
      <p:sp>
        <p:nvSpPr>
          <p:cNvPr id="18" name="Shape 11"/>
          <p:cNvSpPr/>
          <p:nvPr/>
        </p:nvSpPr>
        <p:spPr>
          <a:xfrm>
            <a:off x="914400" y="507492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522579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522579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507492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تطبيق أحكامِ التَّجويد تطبيقًا سليمًا.</a:t>
            </a:r>
            <a:endParaRPr lang="en-US" sz="3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الواقعة (٥)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السادس  •  الآيات ٤٩–٥٦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06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1381310"/>
            <a:ext cx="8183880" cy="5146941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أتلو مع بيانِ أحكامِ التَّجويد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السادس  •  الآيات ٤٩–٥٦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731520" y="1737360"/>
            <a:ext cx="10725912" cy="420624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3" descr="c/L06_tajweed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3170871"/>
            <a:ext cx="9994392" cy="1339218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أتعرَّفُ معانيَ المُفْرَدات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السادس  •  الآيات ٤٩–٥٦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06_vocab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0160" y="2556830"/>
            <a:ext cx="9628632" cy="2841621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أقرأُ وأَفْهَم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السادس  •  الآيات ٤٩–٥٦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822960" y="1371600"/>
            <a:ext cx="10543032" cy="5212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3" descr="c/L06_read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2585869"/>
            <a:ext cx="9994392" cy="2783543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2651760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صدق الله العظيم</a:t>
            </a:r>
            <a:endParaRPr lang="en-US" sz="6000" dirty="0"/>
          </a:p>
        </p:txBody>
      </p:sp>
      <p:pic>
        <p:nvPicPr>
          <p:cNvPr id="4" name="Image 1" descr="a/home.png">
            <a:hlinkClick r:id="rId4" tooltip="فهرس الدروس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تلاوة القرآن الكريم – سورة الواقعة</dc:title>
  <dc:subject>PptxGenJS Presentation</dc:subject>
  <dc:creator>PptxGenJS</dc:creator>
  <cp:lastModifiedBy>PptxGenJS</cp:lastModifiedBy>
  <cp:revision>1</cp:revision>
  <dcterms:created xsi:type="dcterms:W3CDTF">2026-09-29T10:35:26Z</dcterms:created>
  <dcterms:modified xsi:type="dcterms:W3CDTF">2026-09-29T10:35:26Z</dcterms:modified>
</cp:coreProperties>
</file>